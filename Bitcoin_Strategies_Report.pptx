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>
                <a:solidFill>
                  <a:srgbClr val="F7931A"/>
                </a:solidFill>
                <a:latin typeface="Arial Black"/>
              </a:defRPr>
            </a:pPr>
            <a:r>
              <a:t>Bitcoin Investment Strategies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400" b="0">
                <a:solidFill>
                  <a:srgbClr val="A0AEC0"/>
                </a:solidFill>
                <a:latin typeface="Arial"/>
              </a:defRPr>
            </a:pPr>
            <a:r>
              <a:t>DCA vs HODL vs Quantitative Analysis</a:t>
            </a:r>
          </a:p>
          <a:p>
            <a:pPr>
              <a:spcAft>
                <a:spcPts val="1000"/>
              </a:spcAft>
              <a:defRPr sz="2400" b="0">
                <a:solidFill>
                  <a:srgbClr val="A0AEC0"/>
                </a:solidFill>
                <a:latin typeface="Arial"/>
              </a:defRPr>
            </a:pPr>
            <a:r>
              <a:t>2010 - 2024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600">
                <a:solidFill>
                  <a:srgbClr val="F7931A"/>
                </a:solidFill>
                <a:latin typeface="Arial Black"/>
              </a:defRPr>
            </a:pPr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8229600" cy="5029200"/>
          </a:xfrm>
        </p:spPr>
        <p:txBody>
          <a:bodyPr wrap="square"/>
          <a:lstStyle/>
          <a:p/>
          <a:p>
            <a:pPr>
              <a:spcAft>
                <a:spcPts val="1200"/>
              </a:spcAft>
              <a:defRPr sz="2400">
                <a:solidFill>
                  <a:srgbClr val="F0F0F0"/>
                </a:solidFill>
                <a:latin typeface="Arial"/>
              </a:defRPr>
            </a:pPr>
            <a:r>
              <a:t>Project Overview</a:t>
            </a:r>
          </a:p>
          <a:p>
            <a:pPr>
              <a:spcAft>
                <a:spcPts val="1200"/>
              </a:spcAft>
              <a:defRPr sz="2400">
                <a:solidFill>
                  <a:srgbClr val="F0F0F0"/>
                </a:solidFill>
                <a:latin typeface="Arial"/>
              </a:defRPr>
            </a:pPr>
            <a:r>
              <a:t>Dataset Breakdown</a:t>
            </a:r>
          </a:p>
          <a:p>
            <a:pPr>
              <a:spcAft>
                <a:spcPts val="1200"/>
              </a:spcAft>
              <a:defRPr sz="2400">
                <a:solidFill>
                  <a:srgbClr val="F0F0F0"/>
                </a:solidFill>
                <a:latin typeface="Arial"/>
              </a:defRPr>
            </a:pPr>
            <a:r>
              <a:t>Strategy Assumptions (DCA &amp; HODL)</a:t>
            </a:r>
          </a:p>
          <a:p>
            <a:pPr>
              <a:spcAft>
                <a:spcPts val="1200"/>
              </a:spcAft>
              <a:defRPr sz="2400">
                <a:solidFill>
                  <a:srgbClr val="F0F0F0"/>
                </a:solidFill>
                <a:latin typeface="Arial"/>
              </a:defRPr>
            </a:pPr>
            <a:r>
              <a:t>Quant Strategy Development</a:t>
            </a:r>
          </a:p>
          <a:p>
            <a:pPr>
              <a:spcAft>
                <a:spcPts val="1200"/>
              </a:spcAft>
              <a:defRPr sz="2400">
                <a:solidFill>
                  <a:srgbClr val="F0F0F0"/>
                </a:solidFill>
                <a:latin typeface="Arial"/>
              </a:defRPr>
            </a:pPr>
            <a:r>
              <a:t>Performance Comparison</a:t>
            </a:r>
          </a:p>
          <a:p>
            <a:pPr>
              <a:spcAft>
                <a:spcPts val="1200"/>
              </a:spcAft>
              <a:defRPr sz="2400">
                <a:solidFill>
                  <a:srgbClr val="F0F0F0"/>
                </a:solidFill>
                <a:latin typeface="Arial"/>
              </a:defRPr>
            </a:pPr>
            <a:r>
              <a:t>Conclusions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600">
                <a:solidFill>
                  <a:srgbClr val="F7931A"/>
                </a:solidFill>
                <a:latin typeface="Arial Black"/>
              </a:defRPr>
            </a:pPr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8229600" cy="5029200"/>
          </a:xfrm>
        </p:spPr>
        <p:txBody>
          <a:bodyPr wrap="square"/>
          <a:lstStyle/>
          <a:p/>
          <a:p>
            <a:pPr>
              <a:spcAft>
                <a:spcPts val="1200"/>
              </a:spcAft>
              <a:defRPr sz="2400">
                <a:solidFill>
                  <a:srgbClr val="F0F0F0"/>
                </a:solidFill>
                <a:latin typeface="Arial"/>
              </a:defRPr>
            </a:pPr>
            <a:r>
              <a:t>Goal: Compare investment strategies (2010-2024)</a:t>
            </a:r>
          </a:p>
          <a:p>
            <a:pPr>
              <a:spcAft>
                <a:spcPts val="1200"/>
              </a:spcAft>
              <a:defRPr sz="2400">
                <a:solidFill>
                  <a:srgbClr val="F0F0F0"/>
                </a:solidFill>
                <a:latin typeface="Arial"/>
              </a:defRPr>
            </a:pPr>
            <a:r>
              <a:t>Three Strategies:</a:t>
            </a:r>
          </a:p>
          <a:p>
            <a:pPr lvl="1">
              <a:spcAft>
                <a:spcPts val="6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HODL: Buy once, hold forever ($12,500)</a:t>
            </a:r>
          </a:p>
          <a:p>
            <a:pPr lvl="1">
              <a:spcAft>
                <a:spcPts val="6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DCA: Monthly investment ($1,000 x 13)</a:t>
            </a:r>
          </a:p>
          <a:p>
            <a:pPr lvl="1">
              <a:spcAft>
                <a:spcPts val="6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Quant: 10-factor technical model (Random Forest/Linear)</a:t>
            </a:r>
          </a:p>
          <a:p>
            <a:pPr>
              <a:spcAft>
                <a:spcPts val="1200"/>
              </a:spcAft>
              <a:defRPr sz="2400">
                <a:solidFill>
                  <a:srgbClr val="F0F0F0"/>
                </a:solidFill>
                <a:latin typeface="Arial"/>
              </a:defRPr>
            </a:pPr>
            <a:r>
              <a:t>Key Insight: Simple strategies often outperform complex 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600">
                <a:solidFill>
                  <a:srgbClr val="F7931A"/>
                </a:solidFill>
                <a:latin typeface="Arial Black"/>
              </a:defRPr>
            </a:pPr>
            <a:r>
              <a:t>Dataset Breakdown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8229600" cy="5029200"/>
          </a:xfrm>
        </p:spPr>
        <p:txBody>
          <a:bodyPr wrap="square"/>
          <a:lstStyle/>
          <a:p/>
          <a:p>
            <a:pPr>
              <a:spcAft>
                <a:spcPts val="1200"/>
              </a:spcAft>
              <a:defRPr sz="2400">
                <a:solidFill>
                  <a:srgbClr val="F0F0F0"/>
                </a:solidFill>
                <a:latin typeface="Arial"/>
              </a:defRPr>
            </a:pPr>
            <a:r>
              <a:t>Total Entries: ~5,081 daily records</a:t>
            </a:r>
          </a:p>
          <a:p>
            <a:pPr>
              <a:spcAft>
                <a:spcPts val="1200"/>
              </a:spcAft>
              <a:defRPr sz="2400">
                <a:solidFill>
                  <a:srgbClr val="F0F0F0"/>
                </a:solidFill>
                <a:latin typeface="Arial"/>
              </a:defRPr>
            </a:pPr>
            <a:r>
              <a:t>Columns: Open, High, Low, Close, Volume, Market Cap</a:t>
            </a:r>
          </a:p>
          <a:p>
            <a:pPr>
              <a:spcAft>
                <a:spcPts val="1200"/>
              </a:spcAft>
              <a:defRPr sz="2400">
                <a:solidFill>
                  <a:srgbClr val="F0F0F0"/>
                </a:solidFill>
                <a:latin typeface="Arial"/>
              </a:defRPr>
            </a:pPr>
            <a:r>
              <a:t>Data Splits:</a:t>
            </a:r>
          </a:p>
          <a:p>
            <a:pPr lvl="1">
              <a:spcAft>
                <a:spcPts val="6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Training (2010-2020): ~3,806 days (Optimization)</a:t>
            </a:r>
          </a:p>
          <a:p>
            <a:pPr lvl="1">
              <a:spcAft>
                <a:spcPts val="6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Validation (2021-2022): ~730 days (Tuning)</a:t>
            </a:r>
          </a:p>
          <a:p>
            <a:pPr lvl="1">
              <a:spcAft>
                <a:spcPts val="6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Testing (2023-2024): ~545 days (Out-of-Sample)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600">
                <a:solidFill>
                  <a:srgbClr val="F7931A"/>
                </a:solidFill>
                <a:latin typeface="Arial Black"/>
              </a:defRPr>
            </a:pPr>
            <a:r>
              <a:t>Strategy Assumptions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8229600" cy="5029200"/>
          </a:xfrm>
        </p:spPr>
        <p:txBody>
          <a:bodyPr wrap="square"/>
          <a:lstStyle/>
          <a:p/>
          <a:p>
            <a:pPr>
              <a:spcAft>
                <a:spcPts val="1200"/>
              </a:spcAft>
              <a:defRPr sz="2400">
                <a:solidFill>
                  <a:srgbClr val="F0F0F0"/>
                </a:solidFill>
                <a:latin typeface="Arial"/>
              </a:defRPr>
            </a:pPr>
            <a:r>
              <a:t>HODL (Buy &amp; Hold)</a:t>
            </a:r>
          </a:p>
          <a:p>
            <a:pPr lvl="1">
              <a:spcAft>
                <a:spcPts val="6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'Time in market &gt; Timing the market'</a:t>
            </a:r>
          </a:p>
          <a:p>
            <a:pPr lvl="1">
              <a:spcAft>
                <a:spcPts val="6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Ignores volatility (&gt;90% drawdowns allowed)</a:t>
            </a:r>
          </a:p>
          <a:p>
            <a:pPr>
              <a:spcAft>
                <a:spcPts val="1200"/>
              </a:spcAft>
              <a:defRPr sz="2400">
                <a:solidFill>
                  <a:srgbClr val="F0F0F0"/>
                </a:solidFill>
                <a:latin typeface="Arial"/>
              </a:defRPr>
            </a:pPr>
            <a:r>
              <a:t>DCA (Dollar-Cost Averaging)</a:t>
            </a:r>
          </a:p>
          <a:p>
            <a:pPr lvl="1">
              <a:spcAft>
                <a:spcPts val="6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Removes timing risk entirely</a:t>
            </a:r>
          </a:p>
          <a:p>
            <a:pPr lvl="1">
              <a:spcAft>
                <a:spcPts val="6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Automates 'buy low, buy less high'</a:t>
            </a:r>
          </a:p>
          <a:p>
            <a:pPr lvl="1">
              <a:spcAft>
                <a:spcPts val="6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Emotional stability &gt; Perfect returns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600">
                <a:solidFill>
                  <a:srgbClr val="F7931A"/>
                </a:solidFill>
                <a:latin typeface="Arial Black"/>
              </a:defRPr>
            </a:pPr>
            <a:r>
              <a:t>Quant Strategy 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8229600" cy="5029200"/>
          </a:xfrm>
        </p:spPr>
        <p:txBody>
          <a:bodyPr wrap="square"/>
          <a:lstStyle/>
          <a:p/>
          <a:p>
            <a:pPr>
              <a:spcAft>
                <a:spcPts val="1200"/>
              </a:spcAft>
              <a:defRPr sz="2400">
                <a:solidFill>
                  <a:srgbClr val="F0F0F0"/>
                </a:solidFill>
                <a:latin typeface="Arial"/>
              </a:defRPr>
            </a:pPr>
            <a:r>
              <a:t>Model: Weighted sum of 10 Technical Factors</a:t>
            </a:r>
          </a:p>
          <a:p>
            <a:pPr>
              <a:spcAft>
                <a:spcPts val="1200"/>
              </a:spcAft>
              <a:defRPr sz="2400">
                <a:solidFill>
                  <a:srgbClr val="F0F0F0"/>
                </a:solidFill>
                <a:latin typeface="Arial"/>
              </a:defRPr>
            </a:pPr>
            <a:r>
              <a:t>Key Factors:</a:t>
            </a:r>
          </a:p>
          <a:p>
            <a:pPr lvl="1">
              <a:spcAft>
                <a:spcPts val="6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Price Position (Mean Reversion) - Weight: +2.56</a:t>
            </a:r>
          </a:p>
          <a:p>
            <a:pPr lvl="1">
              <a:spcAft>
                <a:spcPts val="6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Momentum (60-day) - Weight: -1.87</a:t>
            </a:r>
          </a:p>
          <a:p>
            <a:pPr lvl="1">
              <a:spcAft>
                <a:spcPts val="6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Volatility (ATR) - Weight: +1.32</a:t>
            </a:r>
          </a:p>
          <a:p>
            <a:pPr>
              <a:spcAft>
                <a:spcPts val="1200"/>
              </a:spcAft>
              <a:defRPr sz="2400">
                <a:solidFill>
                  <a:srgbClr val="F0F0F0"/>
                </a:solidFill>
                <a:latin typeface="Arial"/>
              </a:defRPr>
            </a:pPr>
            <a:r>
              <a:t>Optimization:</a:t>
            </a:r>
          </a:p>
          <a:p>
            <a:pPr lvl="1">
              <a:spcAft>
                <a:spcPts val="6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Random Walk Search (300 steps)</a:t>
            </a:r>
          </a:p>
          <a:p>
            <a:pPr lvl="1">
              <a:spcAft>
                <a:spcPts val="6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Target: Maximize Sharpe Ratio (Train)</a:t>
            </a:r>
          </a:p>
          <a:p>
            <a:pPr lvl="1">
              <a:spcAft>
                <a:spcPts val="6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Constraints: Trans. Costs (15bps), L2 Regularization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600">
                <a:solidFill>
                  <a:srgbClr val="F7931A"/>
                </a:solidFill>
                <a:latin typeface="Arial Black"/>
              </a:defRPr>
            </a:pPr>
            <a:r>
              <a:t>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8229600" cy="5029200"/>
          </a:xfrm>
        </p:spPr>
        <p:txBody>
          <a:bodyPr wrap="square"/>
          <a:lstStyle/>
          <a:p/>
          <a:p>
            <a:pPr>
              <a:spcAft>
                <a:spcPts val="1200"/>
              </a:spcAft>
              <a:defRPr sz="2400">
                <a:solidFill>
                  <a:srgbClr val="F0F0F0"/>
                </a:solidFill>
                <a:latin typeface="Arial"/>
              </a:defRPr>
            </a:pPr>
            <a:r>
              <a:t>training Set (2010-2020) - In-Sample</a:t>
            </a:r>
          </a:p>
          <a:p>
            <a:pPr lvl="1">
              <a:spcAft>
                <a:spcPts val="6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Quant: Sharpe 1.98 (Overfitted)</a:t>
            </a:r>
          </a:p>
          <a:p>
            <a:pPr lvl="1">
              <a:spcAft>
                <a:spcPts val="6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DCA: Sharpe 1.78</a:t>
            </a:r>
          </a:p>
          <a:p>
            <a:pPr>
              <a:spcAft>
                <a:spcPts val="1200"/>
              </a:spcAft>
              <a:defRPr sz="2400">
                <a:solidFill>
                  <a:srgbClr val="F0F0F0"/>
                </a:solidFill>
                <a:latin typeface="Arial"/>
              </a:defRPr>
            </a:pPr>
            <a:r>
              <a:t>Testing Set (2023-2024) - Out-of-Sample</a:t>
            </a:r>
          </a:p>
          <a:p>
            <a:pPr lvl="1">
              <a:spcAft>
                <a:spcPts val="6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HODL: Sharpe 3.26 (+268% Return)</a:t>
            </a:r>
          </a:p>
          <a:p>
            <a:pPr lvl="1">
              <a:spcAft>
                <a:spcPts val="6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DCA: Sharpe 3.04 (+141% Return, Low Risk)</a:t>
            </a:r>
          </a:p>
          <a:p>
            <a:pPr lvl="1">
              <a:spcAft>
                <a:spcPts val="6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Quant: Sharpe -5.14 (-25% Loss)</a:t>
            </a:r>
          </a:p>
          <a:p>
            <a:pPr>
              <a:spcAft>
                <a:spcPts val="1200"/>
              </a:spcAft>
              <a:defRPr sz="2400">
                <a:solidFill>
                  <a:srgbClr val="F0F0F0"/>
                </a:solidFill>
                <a:latin typeface="Arial"/>
              </a:defRPr>
            </a:pPr>
            <a:r>
              <a:t>Result: Quant model failed to generalize.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C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914400"/>
          </a:xfrm>
        </p:spPr>
        <p:txBody>
          <a:bodyPr/>
          <a:lstStyle/>
          <a:p>
            <a:pPr algn="l">
              <a:defRPr sz="3600">
                <a:solidFill>
                  <a:srgbClr val="F7931A"/>
                </a:solidFill>
                <a:latin typeface="Arial Black"/>
              </a:defRPr>
            </a:pPr>
            <a:r>
              <a:t>Key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63040"/>
            <a:ext cx="8229600" cy="5029200"/>
          </a:xfrm>
        </p:spPr>
        <p:txBody>
          <a:bodyPr wrap="square"/>
          <a:lstStyle/>
          <a:p/>
          <a:p>
            <a:pPr>
              <a:spcAft>
                <a:spcPts val="1200"/>
              </a:spcAft>
              <a:defRPr sz="2400">
                <a:solidFill>
                  <a:srgbClr val="F0F0F0"/>
                </a:solidFill>
                <a:latin typeface="Arial"/>
              </a:defRPr>
            </a:pPr>
            <a:r>
              <a:t>1. Overfitting is Fatal: Historical patterns (2010-2020) did not persist.</a:t>
            </a:r>
          </a:p>
          <a:p>
            <a:pPr>
              <a:spcAft>
                <a:spcPts val="1200"/>
              </a:spcAft>
              <a:defRPr sz="2400">
                <a:solidFill>
                  <a:srgbClr val="F0F0F0"/>
                </a:solidFill>
                <a:latin typeface="Arial"/>
              </a:defRPr>
            </a:pPr>
            <a:r>
              <a:t>2. Complexity Cost: High turnover (trading every 1.2 days) eats profits.</a:t>
            </a:r>
          </a:p>
          <a:p>
            <a:pPr>
              <a:spcAft>
                <a:spcPts val="1200"/>
              </a:spcAft>
              <a:defRPr sz="2400">
                <a:solidFill>
                  <a:srgbClr val="F0F0F0"/>
                </a:solidFill>
                <a:latin typeface="Arial"/>
              </a:defRPr>
            </a:pPr>
            <a:r>
              <a:t>3. DCA Superiority: Best balance of risk/reward.</a:t>
            </a:r>
          </a:p>
          <a:p>
            <a:pPr>
              <a:spcAft>
                <a:spcPts val="1200"/>
              </a:spcAft>
              <a:defRPr sz="2400">
                <a:solidFill>
                  <a:srgbClr val="F0F0F0"/>
                </a:solidFill>
                <a:latin typeface="Arial"/>
              </a:defRPr>
            </a:pPr>
            <a:r>
              <a:t>Recommendation:</a:t>
            </a:r>
          </a:p>
          <a:p>
            <a:pPr lvl="1">
              <a:spcAft>
                <a:spcPts val="6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General Investors: Stick to DCA.</a:t>
            </a:r>
          </a:p>
          <a:p>
            <a:pPr lvl="1">
              <a:spcAft>
                <a:spcPts val="600"/>
              </a:spcAft>
              <a:defRPr sz="2000">
                <a:solidFill>
                  <a:srgbClr val="F0F0F0"/>
                </a:solidFill>
                <a:latin typeface="Arial"/>
              </a:defRPr>
            </a:pPr>
            <a:r>
              <a:t>  • Quant Devs: Mandate strict out-of-sample testing.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